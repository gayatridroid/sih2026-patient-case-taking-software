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3333" autoAdjust="0"/>
  </p:normalViewPr>
  <p:slideViewPr>
    <p:cSldViewPr snapToGrid="0" snapToObjects="1">
      <p:cViewPr>
        <p:scale>
          <a:sx n="62" d="100"/>
          <a:sy n="62" d="100"/>
        </p:scale>
        <p:origin x="804" y="4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CAB7CA-6233-412A-BF03-A62C28ABF1EF}" type="doc">
      <dgm:prSet loTypeId="urn:microsoft.com/office/officeart/2005/8/layout/hProcess9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256928E3-9369-47AB-A473-A68F2913A932}">
      <dgm:prSet phldrT="[Text]" phldr="0"/>
      <dgm:spPr/>
      <dgm:t>
        <a:bodyPr/>
        <a:lstStyle/>
        <a:p>
          <a:r>
            <a:rPr lang="en-US" dirty="0"/>
            <a:t>1] </a:t>
          </a:r>
        </a:p>
        <a:p>
          <a:r>
            <a:rPr lang="en-US" dirty="0"/>
            <a:t>Patient Registration</a:t>
          </a:r>
          <a:endParaRPr lang="en-IN" dirty="0"/>
        </a:p>
      </dgm:t>
    </dgm:pt>
    <dgm:pt modelId="{6375D433-9152-4B83-8464-DDA38268D6E8}" type="parTrans" cxnId="{90018EE0-BA02-4A0A-8670-5C176A65B543}">
      <dgm:prSet/>
      <dgm:spPr/>
      <dgm:t>
        <a:bodyPr/>
        <a:lstStyle/>
        <a:p>
          <a:endParaRPr lang="en-IN"/>
        </a:p>
      </dgm:t>
    </dgm:pt>
    <dgm:pt modelId="{CC36BD05-77E7-4C6B-9315-40EC6C3F0B50}" type="sibTrans" cxnId="{90018EE0-BA02-4A0A-8670-5C176A65B543}">
      <dgm:prSet/>
      <dgm:spPr/>
      <dgm:t>
        <a:bodyPr/>
        <a:lstStyle/>
        <a:p>
          <a:endParaRPr lang="en-IN"/>
        </a:p>
      </dgm:t>
    </dgm:pt>
    <dgm:pt modelId="{910C5833-F0F7-441C-A357-65580CD57F25}">
      <dgm:prSet phldrT="[Text]" phldr="0"/>
      <dgm:spPr/>
      <dgm:t>
        <a:bodyPr/>
        <a:lstStyle/>
        <a:p>
          <a:r>
            <a:rPr lang="en-US" dirty="0"/>
            <a:t>2]                                       Language Selection &amp; Consent</a:t>
          </a:r>
          <a:endParaRPr lang="en-IN" dirty="0"/>
        </a:p>
      </dgm:t>
    </dgm:pt>
    <dgm:pt modelId="{07142BFE-BCDF-4652-8011-6FA7BA6DEA96}" type="parTrans" cxnId="{BE441F55-4320-4018-8A68-8EDAAC19D29A}">
      <dgm:prSet/>
      <dgm:spPr/>
      <dgm:t>
        <a:bodyPr/>
        <a:lstStyle/>
        <a:p>
          <a:endParaRPr lang="en-IN"/>
        </a:p>
      </dgm:t>
    </dgm:pt>
    <dgm:pt modelId="{39355638-F28C-4E29-80E6-994A7D953FE8}" type="sibTrans" cxnId="{BE441F55-4320-4018-8A68-8EDAAC19D29A}">
      <dgm:prSet/>
      <dgm:spPr/>
      <dgm:t>
        <a:bodyPr/>
        <a:lstStyle/>
        <a:p>
          <a:endParaRPr lang="en-IN"/>
        </a:p>
      </dgm:t>
    </dgm:pt>
    <dgm:pt modelId="{C1BA50AA-A06C-4DEF-B761-835E0CA30EF1}">
      <dgm:prSet phldrT="[Text]" phldr="0"/>
      <dgm:spPr/>
      <dgm:t>
        <a:bodyPr/>
        <a:lstStyle/>
        <a:p>
          <a:r>
            <a:rPr lang="en-US" dirty="0"/>
            <a:t>3]                                      Voice/text Case Taking </a:t>
          </a:r>
          <a:endParaRPr lang="en-IN" dirty="0"/>
        </a:p>
      </dgm:t>
    </dgm:pt>
    <dgm:pt modelId="{2897DE14-E02A-4248-A76B-02DADB3F6F88}" type="parTrans" cxnId="{9AFB227F-64B3-457C-9FFF-4A0FDD270298}">
      <dgm:prSet/>
      <dgm:spPr/>
      <dgm:t>
        <a:bodyPr/>
        <a:lstStyle/>
        <a:p>
          <a:endParaRPr lang="en-IN"/>
        </a:p>
      </dgm:t>
    </dgm:pt>
    <dgm:pt modelId="{98063986-8156-48DA-9D35-832BB1229930}" type="sibTrans" cxnId="{9AFB227F-64B3-457C-9FFF-4A0FDD270298}">
      <dgm:prSet/>
      <dgm:spPr/>
      <dgm:t>
        <a:bodyPr/>
        <a:lstStyle/>
        <a:p>
          <a:endParaRPr lang="en-IN"/>
        </a:p>
      </dgm:t>
    </dgm:pt>
    <dgm:pt modelId="{B7767159-ED65-4104-8D48-15F2FB0EAC2B}">
      <dgm:prSet phldrT="[Text]" phldr="0"/>
      <dgm:spPr/>
      <dgm:t>
        <a:bodyPr/>
        <a:lstStyle/>
        <a:p>
          <a:r>
            <a:rPr lang="en-US" dirty="0"/>
            <a:t>4]                   AI Asks Relevant Questions </a:t>
          </a:r>
          <a:endParaRPr lang="en-IN" dirty="0"/>
        </a:p>
      </dgm:t>
    </dgm:pt>
    <dgm:pt modelId="{04DB98E9-E59A-43F6-B9E9-83580239B8DA}" type="parTrans" cxnId="{C7D6602E-99BC-46C5-A0FE-777C7554BC89}">
      <dgm:prSet/>
      <dgm:spPr/>
      <dgm:t>
        <a:bodyPr/>
        <a:lstStyle/>
        <a:p>
          <a:endParaRPr lang="en-IN"/>
        </a:p>
      </dgm:t>
    </dgm:pt>
    <dgm:pt modelId="{35031C2B-E32F-41A4-88F6-E6BD91D1A952}" type="sibTrans" cxnId="{C7D6602E-99BC-46C5-A0FE-777C7554BC89}">
      <dgm:prSet/>
      <dgm:spPr/>
      <dgm:t>
        <a:bodyPr/>
        <a:lstStyle/>
        <a:p>
          <a:endParaRPr lang="en-IN"/>
        </a:p>
      </dgm:t>
    </dgm:pt>
    <dgm:pt modelId="{D3A4EB53-344A-4095-A398-00AF0513ED11}">
      <dgm:prSet phldrT="[Text]" phldr="0"/>
      <dgm:spPr/>
      <dgm:t>
        <a:bodyPr/>
        <a:lstStyle/>
        <a:p>
          <a:r>
            <a:rPr lang="en-US" dirty="0"/>
            <a:t>5]                     OCR of Previous Medical Documents</a:t>
          </a:r>
          <a:endParaRPr lang="en-IN" dirty="0"/>
        </a:p>
      </dgm:t>
    </dgm:pt>
    <dgm:pt modelId="{644E1739-3D98-4D06-BFEB-EBB4764E1C73}" type="parTrans" cxnId="{416C0BC3-0B9A-4D40-94B8-A621FCFBFEBB}">
      <dgm:prSet/>
      <dgm:spPr/>
      <dgm:t>
        <a:bodyPr/>
        <a:lstStyle/>
        <a:p>
          <a:endParaRPr lang="en-IN"/>
        </a:p>
      </dgm:t>
    </dgm:pt>
    <dgm:pt modelId="{2B833D15-9CA3-497C-8CD1-7D0695497CA6}" type="sibTrans" cxnId="{416C0BC3-0B9A-4D40-94B8-A621FCFBFEBB}">
      <dgm:prSet/>
      <dgm:spPr/>
      <dgm:t>
        <a:bodyPr/>
        <a:lstStyle/>
        <a:p>
          <a:endParaRPr lang="en-IN"/>
        </a:p>
      </dgm:t>
    </dgm:pt>
    <dgm:pt modelId="{D1C727AD-4A1D-4E75-ABBD-83350FC1D4B8}">
      <dgm:prSet phldrT="[Text]" phldr="0"/>
      <dgm:spPr/>
      <dgm:t>
        <a:bodyPr/>
        <a:lstStyle/>
        <a:p>
          <a:r>
            <a:rPr lang="en-US" dirty="0"/>
            <a:t>6]                                Information Structuring </a:t>
          </a:r>
          <a:endParaRPr lang="en-IN" dirty="0"/>
        </a:p>
      </dgm:t>
    </dgm:pt>
    <dgm:pt modelId="{7318017E-A743-492C-9F43-95EEBA96F168}" type="parTrans" cxnId="{6374199A-6B9D-4659-9B89-9A6A9ABA986F}">
      <dgm:prSet/>
      <dgm:spPr/>
      <dgm:t>
        <a:bodyPr/>
        <a:lstStyle/>
        <a:p>
          <a:endParaRPr lang="en-IN"/>
        </a:p>
      </dgm:t>
    </dgm:pt>
    <dgm:pt modelId="{34D98FC5-3F59-478A-B717-0ACAE247665F}" type="sibTrans" cxnId="{6374199A-6B9D-4659-9B89-9A6A9ABA986F}">
      <dgm:prSet/>
      <dgm:spPr/>
      <dgm:t>
        <a:bodyPr/>
        <a:lstStyle/>
        <a:p>
          <a:endParaRPr lang="en-IN"/>
        </a:p>
      </dgm:t>
    </dgm:pt>
    <dgm:pt modelId="{A1D0A595-FC92-453B-8060-943674F6328C}">
      <dgm:prSet phldrT="[Text]" phldr="0"/>
      <dgm:spPr/>
      <dgm:t>
        <a:bodyPr/>
        <a:lstStyle/>
        <a:p>
          <a:r>
            <a:rPr lang="en-US"/>
            <a:t>7]                               Patient Medical Timeline </a:t>
          </a:r>
          <a:endParaRPr lang="en-IN" dirty="0"/>
        </a:p>
      </dgm:t>
    </dgm:pt>
    <dgm:pt modelId="{01CBEB01-D121-4512-BAE7-708C6C926FD5}" type="parTrans" cxnId="{2FA2D5C4-06C4-45B5-B29C-6815CFC3006F}">
      <dgm:prSet/>
      <dgm:spPr/>
      <dgm:t>
        <a:bodyPr/>
        <a:lstStyle/>
        <a:p>
          <a:endParaRPr lang="en-IN"/>
        </a:p>
      </dgm:t>
    </dgm:pt>
    <dgm:pt modelId="{2FECDC82-A0F4-48CA-ACF7-C25BEDCED1AC}" type="sibTrans" cxnId="{2FA2D5C4-06C4-45B5-B29C-6815CFC3006F}">
      <dgm:prSet/>
      <dgm:spPr/>
      <dgm:t>
        <a:bodyPr/>
        <a:lstStyle/>
        <a:p>
          <a:endParaRPr lang="en-IN"/>
        </a:p>
      </dgm:t>
    </dgm:pt>
    <dgm:pt modelId="{9EB41277-321E-4B41-A904-65144952329B}">
      <dgm:prSet phldrT="[Text]" phldr="0"/>
      <dgm:spPr/>
      <dgm:t>
        <a:bodyPr/>
        <a:lstStyle/>
        <a:p>
          <a:r>
            <a:rPr lang="en-US" dirty="0"/>
            <a:t>8]                     AI Generated Case Summary</a:t>
          </a:r>
          <a:endParaRPr lang="en-IN" dirty="0"/>
        </a:p>
      </dgm:t>
    </dgm:pt>
    <dgm:pt modelId="{A2F5F7C2-5E34-44AE-B865-AE7F8FE79A99}" type="parTrans" cxnId="{E3233C00-E8B7-4984-9294-4F0D735FA09C}">
      <dgm:prSet/>
      <dgm:spPr/>
      <dgm:t>
        <a:bodyPr/>
        <a:lstStyle/>
        <a:p>
          <a:endParaRPr lang="en-IN"/>
        </a:p>
      </dgm:t>
    </dgm:pt>
    <dgm:pt modelId="{6EFC09D2-750D-4A1B-977E-3C2698FD26B4}" type="sibTrans" cxnId="{E3233C00-E8B7-4984-9294-4F0D735FA09C}">
      <dgm:prSet/>
      <dgm:spPr/>
      <dgm:t>
        <a:bodyPr/>
        <a:lstStyle/>
        <a:p>
          <a:endParaRPr lang="en-IN"/>
        </a:p>
      </dgm:t>
    </dgm:pt>
    <dgm:pt modelId="{5FAA3E33-22FD-4A20-9494-093D6BDFAEC3}">
      <dgm:prSet phldrT="[Text]" phldr="0"/>
      <dgm:spPr/>
      <dgm:t>
        <a:bodyPr/>
        <a:lstStyle/>
        <a:p>
          <a:r>
            <a:rPr lang="en-US"/>
            <a:t>9]              Doctor Reviews &amp; Edits </a:t>
          </a:r>
          <a:endParaRPr lang="en-IN" dirty="0"/>
        </a:p>
      </dgm:t>
    </dgm:pt>
    <dgm:pt modelId="{7F4D5EC4-10DC-4681-8F30-841F867101F9}" type="parTrans" cxnId="{02344B31-C399-4B12-8DAF-D3ADE07195FC}">
      <dgm:prSet/>
      <dgm:spPr/>
      <dgm:t>
        <a:bodyPr/>
        <a:lstStyle/>
        <a:p>
          <a:endParaRPr lang="en-IN"/>
        </a:p>
      </dgm:t>
    </dgm:pt>
    <dgm:pt modelId="{8E481594-472C-44C1-BD6A-BB717189097A}" type="sibTrans" cxnId="{02344B31-C399-4B12-8DAF-D3ADE07195FC}">
      <dgm:prSet/>
      <dgm:spPr/>
      <dgm:t>
        <a:bodyPr/>
        <a:lstStyle/>
        <a:p>
          <a:endParaRPr lang="en-IN"/>
        </a:p>
      </dgm:t>
    </dgm:pt>
    <dgm:pt modelId="{97222EB0-2826-4594-9DB1-6D108F281086}">
      <dgm:prSet phldrT="[Text]" phldr="0"/>
      <dgm:spPr/>
      <dgm:t>
        <a:bodyPr/>
        <a:lstStyle/>
        <a:p>
          <a:r>
            <a:rPr lang="en-US"/>
            <a:t>10]                        Final Patient Record </a:t>
          </a:r>
          <a:endParaRPr lang="en-IN" dirty="0"/>
        </a:p>
      </dgm:t>
    </dgm:pt>
    <dgm:pt modelId="{6547AE2B-7E74-4B87-8A95-BA352BE0D6D8}" type="parTrans" cxnId="{C3F42EFA-3C02-471D-86DF-DA35CF77F0D2}">
      <dgm:prSet/>
      <dgm:spPr/>
      <dgm:t>
        <a:bodyPr/>
        <a:lstStyle/>
        <a:p>
          <a:endParaRPr lang="en-IN"/>
        </a:p>
      </dgm:t>
    </dgm:pt>
    <dgm:pt modelId="{04976C61-B76B-446E-A93A-86D7CDA68CFC}" type="sibTrans" cxnId="{C3F42EFA-3C02-471D-86DF-DA35CF77F0D2}">
      <dgm:prSet/>
      <dgm:spPr/>
      <dgm:t>
        <a:bodyPr/>
        <a:lstStyle/>
        <a:p>
          <a:endParaRPr lang="en-IN"/>
        </a:p>
      </dgm:t>
    </dgm:pt>
    <dgm:pt modelId="{981632EE-F18B-4E36-81BB-39E83D3F4EF6}" type="pres">
      <dgm:prSet presAssocID="{0DCAB7CA-6233-412A-BF03-A62C28ABF1EF}" presName="CompostProcess" presStyleCnt="0">
        <dgm:presLayoutVars>
          <dgm:dir/>
          <dgm:resizeHandles val="exact"/>
        </dgm:presLayoutVars>
      </dgm:prSet>
      <dgm:spPr/>
    </dgm:pt>
    <dgm:pt modelId="{2E5163E1-6B76-404A-8F4F-C9C8011AA9BC}" type="pres">
      <dgm:prSet presAssocID="{0DCAB7CA-6233-412A-BF03-A62C28ABF1EF}" presName="arrow" presStyleLbl="bgShp" presStyleIdx="0" presStyleCnt="1"/>
      <dgm:spPr/>
    </dgm:pt>
    <dgm:pt modelId="{A951E4FB-681A-43A4-9C3D-A72DB5383BBD}" type="pres">
      <dgm:prSet presAssocID="{0DCAB7CA-6233-412A-BF03-A62C28ABF1EF}" presName="linearProcess" presStyleCnt="0"/>
      <dgm:spPr/>
    </dgm:pt>
    <dgm:pt modelId="{C3B9EF7D-4880-42FE-ADDE-55D8875DFFC7}" type="pres">
      <dgm:prSet presAssocID="{256928E3-9369-47AB-A473-A68F2913A932}" presName="textNode" presStyleLbl="node1" presStyleIdx="0" presStyleCnt="10">
        <dgm:presLayoutVars>
          <dgm:bulletEnabled val="1"/>
        </dgm:presLayoutVars>
      </dgm:prSet>
      <dgm:spPr/>
    </dgm:pt>
    <dgm:pt modelId="{93E3E93E-F55E-4847-9AC4-A08D6162FA0A}" type="pres">
      <dgm:prSet presAssocID="{CC36BD05-77E7-4C6B-9315-40EC6C3F0B50}" presName="sibTrans" presStyleCnt="0"/>
      <dgm:spPr/>
    </dgm:pt>
    <dgm:pt modelId="{9F3A21A2-9824-41A1-BFFD-407FAE6EADE5}" type="pres">
      <dgm:prSet presAssocID="{910C5833-F0F7-441C-A357-65580CD57F25}" presName="textNode" presStyleLbl="node1" presStyleIdx="1" presStyleCnt="10">
        <dgm:presLayoutVars>
          <dgm:bulletEnabled val="1"/>
        </dgm:presLayoutVars>
      </dgm:prSet>
      <dgm:spPr/>
    </dgm:pt>
    <dgm:pt modelId="{4EE3DCAE-3E4B-4A61-BC49-1E112B5A9CA0}" type="pres">
      <dgm:prSet presAssocID="{39355638-F28C-4E29-80E6-994A7D953FE8}" presName="sibTrans" presStyleCnt="0"/>
      <dgm:spPr/>
    </dgm:pt>
    <dgm:pt modelId="{D2E6FD26-B6CE-489B-9DDC-53ACC85F7813}" type="pres">
      <dgm:prSet presAssocID="{C1BA50AA-A06C-4DEF-B761-835E0CA30EF1}" presName="textNode" presStyleLbl="node1" presStyleIdx="2" presStyleCnt="10">
        <dgm:presLayoutVars>
          <dgm:bulletEnabled val="1"/>
        </dgm:presLayoutVars>
      </dgm:prSet>
      <dgm:spPr/>
    </dgm:pt>
    <dgm:pt modelId="{F93572F9-EB59-48E4-B1C1-3064243F8584}" type="pres">
      <dgm:prSet presAssocID="{98063986-8156-48DA-9D35-832BB1229930}" presName="sibTrans" presStyleCnt="0"/>
      <dgm:spPr/>
    </dgm:pt>
    <dgm:pt modelId="{6A82F927-1165-4BFB-9F95-F993A0BD35BC}" type="pres">
      <dgm:prSet presAssocID="{B7767159-ED65-4104-8D48-15F2FB0EAC2B}" presName="textNode" presStyleLbl="node1" presStyleIdx="3" presStyleCnt="10">
        <dgm:presLayoutVars>
          <dgm:bulletEnabled val="1"/>
        </dgm:presLayoutVars>
      </dgm:prSet>
      <dgm:spPr/>
    </dgm:pt>
    <dgm:pt modelId="{D8ABB11E-A1A5-446F-A922-93B058912550}" type="pres">
      <dgm:prSet presAssocID="{35031C2B-E32F-41A4-88F6-E6BD91D1A952}" presName="sibTrans" presStyleCnt="0"/>
      <dgm:spPr/>
    </dgm:pt>
    <dgm:pt modelId="{85C1D4A1-2016-4BCE-B737-15B9D4718D36}" type="pres">
      <dgm:prSet presAssocID="{D3A4EB53-344A-4095-A398-00AF0513ED11}" presName="textNode" presStyleLbl="node1" presStyleIdx="4" presStyleCnt="10">
        <dgm:presLayoutVars>
          <dgm:bulletEnabled val="1"/>
        </dgm:presLayoutVars>
      </dgm:prSet>
      <dgm:spPr/>
    </dgm:pt>
    <dgm:pt modelId="{EBC845AF-29B4-4FB0-A05F-E93D5203051D}" type="pres">
      <dgm:prSet presAssocID="{2B833D15-9CA3-497C-8CD1-7D0695497CA6}" presName="sibTrans" presStyleCnt="0"/>
      <dgm:spPr/>
    </dgm:pt>
    <dgm:pt modelId="{C95603DE-4864-4B01-A417-09EDD91380B7}" type="pres">
      <dgm:prSet presAssocID="{D1C727AD-4A1D-4E75-ABBD-83350FC1D4B8}" presName="textNode" presStyleLbl="node1" presStyleIdx="5" presStyleCnt="10">
        <dgm:presLayoutVars>
          <dgm:bulletEnabled val="1"/>
        </dgm:presLayoutVars>
      </dgm:prSet>
      <dgm:spPr/>
    </dgm:pt>
    <dgm:pt modelId="{CE7AC70C-E2D4-42F2-91B6-82963B70CC15}" type="pres">
      <dgm:prSet presAssocID="{34D98FC5-3F59-478A-B717-0ACAE247665F}" presName="sibTrans" presStyleCnt="0"/>
      <dgm:spPr/>
    </dgm:pt>
    <dgm:pt modelId="{D73D5F86-8235-43D3-A1AA-A23864F9A1FB}" type="pres">
      <dgm:prSet presAssocID="{A1D0A595-FC92-453B-8060-943674F6328C}" presName="textNode" presStyleLbl="node1" presStyleIdx="6" presStyleCnt="10">
        <dgm:presLayoutVars>
          <dgm:bulletEnabled val="1"/>
        </dgm:presLayoutVars>
      </dgm:prSet>
      <dgm:spPr/>
    </dgm:pt>
    <dgm:pt modelId="{301EDA15-BFE3-4B68-90BF-F2D5D079428D}" type="pres">
      <dgm:prSet presAssocID="{2FECDC82-A0F4-48CA-ACF7-C25BEDCED1AC}" presName="sibTrans" presStyleCnt="0"/>
      <dgm:spPr/>
    </dgm:pt>
    <dgm:pt modelId="{1DBCA4A4-D2FA-4668-9551-FC0B11927249}" type="pres">
      <dgm:prSet presAssocID="{9EB41277-321E-4B41-A904-65144952329B}" presName="textNode" presStyleLbl="node1" presStyleIdx="7" presStyleCnt="10">
        <dgm:presLayoutVars>
          <dgm:bulletEnabled val="1"/>
        </dgm:presLayoutVars>
      </dgm:prSet>
      <dgm:spPr/>
    </dgm:pt>
    <dgm:pt modelId="{90C053DE-9ADF-4376-8EC2-80FA8454CB41}" type="pres">
      <dgm:prSet presAssocID="{6EFC09D2-750D-4A1B-977E-3C2698FD26B4}" presName="sibTrans" presStyleCnt="0"/>
      <dgm:spPr/>
    </dgm:pt>
    <dgm:pt modelId="{0C13580A-4E4A-4902-BF65-DB2E785F21F7}" type="pres">
      <dgm:prSet presAssocID="{5FAA3E33-22FD-4A20-9494-093D6BDFAEC3}" presName="textNode" presStyleLbl="node1" presStyleIdx="8" presStyleCnt="10">
        <dgm:presLayoutVars>
          <dgm:bulletEnabled val="1"/>
        </dgm:presLayoutVars>
      </dgm:prSet>
      <dgm:spPr/>
    </dgm:pt>
    <dgm:pt modelId="{A708ACAD-49A8-48A1-9BD9-D4E0E7423F2B}" type="pres">
      <dgm:prSet presAssocID="{8E481594-472C-44C1-BD6A-BB717189097A}" presName="sibTrans" presStyleCnt="0"/>
      <dgm:spPr/>
    </dgm:pt>
    <dgm:pt modelId="{61E7EADA-74A3-448B-A64C-8BD61B4E349A}" type="pres">
      <dgm:prSet presAssocID="{97222EB0-2826-4594-9DB1-6D108F281086}" presName="textNode" presStyleLbl="node1" presStyleIdx="9" presStyleCnt="10">
        <dgm:presLayoutVars>
          <dgm:bulletEnabled val="1"/>
        </dgm:presLayoutVars>
      </dgm:prSet>
      <dgm:spPr/>
    </dgm:pt>
  </dgm:ptLst>
  <dgm:cxnLst>
    <dgm:cxn modelId="{E3233C00-E8B7-4984-9294-4F0D735FA09C}" srcId="{0DCAB7CA-6233-412A-BF03-A62C28ABF1EF}" destId="{9EB41277-321E-4B41-A904-65144952329B}" srcOrd="7" destOrd="0" parTransId="{A2F5F7C2-5E34-44AE-B865-AE7F8FE79A99}" sibTransId="{6EFC09D2-750D-4A1B-977E-3C2698FD26B4}"/>
    <dgm:cxn modelId="{C7D6602E-99BC-46C5-A0FE-777C7554BC89}" srcId="{0DCAB7CA-6233-412A-BF03-A62C28ABF1EF}" destId="{B7767159-ED65-4104-8D48-15F2FB0EAC2B}" srcOrd="3" destOrd="0" parTransId="{04DB98E9-E59A-43F6-B9E9-83580239B8DA}" sibTransId="{35031C2B-E32F-41A4-88F6-E6BD91D1A952}"/>
    <dgm:cxn modelId="{02344B31-C399-4B12-8DAF-D3ADE07195FC}" srcId="{0DCAB7CA-6233-412A-BF03-A62C28ABF1EF}" destId="{5FAA3E33-22FD-4A20-9494-093D6BDFAEC3}" srcOrd="8" destOrd="0" parTransId="{7F4D5EC4-10DC-4681-8F30-841F867101F9}" sibTransId="{8E481594-472C-44C1-BD6A-BB717189097A}"/>
    <dgm:cxn modelId="{83439B33-F2E5-454E-B6AB-216DA681E1DE}" type="presOf" srcId="{9EB41277-321E-4B41-A904-65144952329B}" destId="{1DBCA4A4-D2FA-4668-9551-FC0B11927249}" srcOrd="0" destOrd="0" presId="urn:microsoft.com/office/officeart/2005/8/layout/hProcess9"/>
    <dgm:cxn modelId="{32F3D441-28A8-4897-A608-C928D6598C86}" type="presOf" srcId="{910C5833-F0F7-441C-A357-65580CD57F25}" destId="{9F3A21A2-9824-41A1-BFFD-407FAE6EADE5}" srcOrd="0" destOrd="0" presId="urn:microsoft.com/office/officeart/2005/8/layout/hProcess9"/>
    <dgm:cxn modelId="{83492268-2138-4F89-BF40-3C5A9544F560}" type="presOf" srcId="{C1BA50AA-A06C-4DEF-B761-835E0CA30EF1}" destId="{D2E6FD26-B6CE-489B-9DDC-53ACC85F7813}" srcOrd="0" destOrd="0" presId="urn:microsoft.com/office/officeart/2005/8/layout/hProcess9"/>
    <dgm:cxn modelId="{AD34AE4E-0AB2-46AF-9D91-B57428BE14F5}" type="presOf" srcId="{0DCAB7CA-6233-412A-BF03-A62C28ABF1EF}" destId="{981632EE-F18B-4E36-81BB-39E83D3F4EF6}" srcOrd="0" destOrd="0" presId="urn:microsoft.com/office/officeart/2005/8/layout/hProcess9"/>
    <dgm:cxn modelId="{98D49B6F-676B-4705-AB14-EFAFEA4F93A6}" type="presOf" srcId="{B7767159-ED65-4104-8D48-15F2FB0EAC2B}" destId="{6A82F927-1165-4BFB-9F95-F993A0BD35BC}" srcOrd="0" destOrd="0" presId="urn:microsoft.com/office/officeart/2005/8/layout/hProcess9"/>
    <dgm:cxn modelId="{BE441F55-4320-4018-8A68-8EDAAC19D29A}" srcId="{0DCAB7CA-6233-412A-BF03-A62C28ABF1EF}" destId="{910C5833-F0F7-441C-A357-65580CD57F25}" srcOrd="1" destOrd="0" parTransId="{07142BFE-BCDF-4652-8011-6FA7BA6DEA96}" sibTransId="{39355638-F28C-4E29-80E6-994A7D953FE8}"/>
    <dgm:cxn modelId="{9AFB227F-64B3-457C-9FFF-4A0FDD270298}" srcId="{0DCAB7CA-6233-412A-BF03-A62C28ABF1EF}" destId="{C1BA50AA-A06C-4DEF-B761-835E0CA30EF1}" srcOrd="2" destOrd="0" parTransId="{2897DE14-E02A-4248-A76B-02DADB3F6F88}" sibTransId="{98063986-8156-48DA-9D35-832BB1229930}"/>
    <dgm:cxn modelId="{9C0F7890-8802-407D-BD95-65C83C7BD5BA}" type="presOf" srcId="{D1C727AD-4A1D-4E75-ABBD-83350FC1D4B8}" destId="{C95603DE-4864-4B01-A417-09EDD91380B7}" srcOrd="0" destOrd="0" presId="urn:microsoft.com/office/officeart/2005/8/layout/hProcess9"/>
    <dgm:cxn modelId="{6374199A-6B9D-4659-9B89-9A6A9ABA986F}" srcId="{0DCAB7CA-6233-412A-BF03-A62C28ABF1EF}" destId="{D1C727AD-4A1D-4E75-ABBD-83350FC1D4B8}" srcOrd="5" destOrd="0" parTransId="{7318017E-A743-492C-9F43-95EEBA96F168}" sibTransId="{34D98FC5-3F59-478A-B717-0ACAE247665F}"/>
    <dgm:cxn modelId="{4C58AC9F-B739-4846-9509-11B782EBE5C5}" type="presOf" srcId="{5FAA3E33-22FD-4A20-9494-093D6BDFAEC3}" destId="{0C13580A-4E4A-4902-BF65-DB2E785F21F7}" srcOrd="0" destOrd="0" presId="urn:microsoft.com/office/officeart/2005/8/layout/hProcess9"/>
    <dgm:cxn modelId="{416C0BC3-0B9A-4D40-94B8-A621FCFBFEBB}" srcId="{0DCAB7CA-6233-412A-BF03-A62C28ABF1EF}" destId="{D3A4EB53-344A-4095-A398-00AF0513ED11}" srcOrd="4" destOrd="0" parTransId="{644E1739-3D98-4D06-BFEB-EBB4764E1C73}" sibTransId="{2B833D15-9CA3-497C-8CD1-7D0695497CA6}"/>
    <dgm:cxn modelId="{2FA2D5C4-06C4-45B5-B29C-6815CFC3006F}" srcId="{0DCAB7CA-6233-412A-BF03-A62C28ABF1EF}" destId="{A1D0A595-FC92-453B-8060-943674F6328C}" srcOrd="6" destOrd="0" parTransId="{01CBEB01-D121-4512-BAE7-708C6C926FD5}" sibTransId="{2FECDC82-A0F4-48CA-ACF7-C25BEDCED1AC}"/>
    <dgm:cxn modelId="{26D68ACA-42F4-441C-BBBF-44F744D91B9A}" type="presOf" srcId="{A1D0A595-FC92-453B-8060-943674F6328C}" destId="{D73D5F86-8235-43D3-A1AA-A23864F9A1FB}" srcOrd="0" destOrd="0" presId="urn:microsoft.com/office/officeart/2005/8/layout/hProcess9"/>
    <dgm:cxn modelId="{E62BA4D3-3247-4AF6-BD8E-FA0C30307F64}" type="presOf" srcId="{97222EB0-2826-4594-9DB1-6D108F281086}" destId="{61E7EADA-74A3-448B-A64C-8BD61B4E349A}" srcOrd="0" destOrd="0" presId="urn:microsoft.com/office/officeart/2005/8/layout/hProcess9"/>
    <dgm:cxn modelId="{5D4843D6-A1C3-4EB5-B7FF-AA3EB71054F6}" type="presOf" srcId="{256928E3-9369-47AB-A473-A68F2913A932}" destId="{C3B9EF7D-4880-42FE-ADDE-55D8875DFFC7}" srcOrd="0" destOrd="0" presId="urn:microsoft.com/office/officeart/2005/8/layout/hProcess9"/>
    <dgm:cxn modelId="{90018EE0-BA02-4A0A-8670-5C176A65B543}" srcId="{0DCAB7CA-6233-412A-BF03-A62C28ABF1EF}" destId="{256928E3-9369-47AB-A473-A68F2913A932}" srcOrd="0" destOrd="0" parTransId="{6375D433-9152-4B83-8464-DDA38268D6E8}" sibTransId="{CC36BD05-77E7-4C6B-9315-40EC6C3F0B50}"/>
    <dgm:cxn modelId="{FDC288F0-9C3F-49F2-AFDB-D08B98FCFC88}" type="presOf" srcId="{D3A4EB53-344A-4095-A398-00AF0513ED11}" destId="{85C1D4A1-2016-4BCE-B737-15B9D4718D36}" srcOrd="0" destOrd="0" presId="urn:microsoft.com/office/officeart/2005/8/layout/hProcess9"/>
    <dgm:cxn modelId="{C3F42EFA-3C02-471D-86DF-DA35CF77F0D2}" srcId="{0DCAB7CA-6233-412A-BF03-A62C28ABF1EF}" destId="{97222EB0-2826-4594-9DB1-6D108F281086}" srcOrd="9" destOrd="0" parTransId="{6547AE2B-7E74-4B87-8A95-BA352BE0D6D8}" sibTransId="{04976C61-B76B-446E-A93A-86D7CDA68CFC}"/>
    <dgm:cxn modelId="{D99F7A3B-9010-4762-BEA4-CD8419203245}" type="presParOf" srcId="{981632EE-F18B-4E36-81BB-39E83D3F4EF6}" destId="{2E5163E1-6B76-404A-8F4F-C9C8011AA9BC}" srcOrd="0" destOrd="0" presId="urn:microsoft.com/office/officeart/2005/8/layout/hProcess9"/>
    <dgm:cxn modelId="{F28C6ACC-72AE-4CFF-A31F-79560C620877}" type="presParOf" srcId="{981632EE-F18B-4E36-81BB-39E83D3F4EF6}" destId="{A951E4FB-681A-43A4-9C3D-A72DB5383BBD}" srcOrd="1" destOrd="0" presId="urn:microsoft.com/office/officeart/2005/8/layout/hProcess9"/>
    <dgm:cxn modelId="{38146EB0-F3B5-4676-B6A7-3B4663EDB610}" type="presParOf" srcId="{A951E4FB-681A-43A4-9C3D-A72DB5383BBD}" destId="{C3B9EF7D-4880-42FE-ADDE-55D8875DFFC7}" srcOrd="0" destOrd="0" presId="urn:microsoft.com/office/officeart/2005/8/layout/hProcess9"/>
    <dgm:cxn modelId="{AC941F05-771C-454E-8CC1-16DCEBB0F993}" type="presParOf" srcId="{A951E4FB-681A-43A4-9C3D-A72DB5383BBD}" destId="{93E3E93E-F55E-4847-9AC4-A08D6162FA0A}" srcOrd="1" destOrd="0" presId="urn:microsoft.com/office/officeart/2005/8/layout/hProcess9"/>
    <dgm:cxn modelId="{7334FB08-1DE1-4E02-9687-A17A4632C5ED}" type="presParOf" srcId="{A951E4FB-681A-43A4-9C3D-A72DB5383BBD}" destId="{9F3A21A2-9824-41A1-BFFD-407FAE6EADE5}" srcOrd="2" destOrd="0" presId="urn:microsoft.com/office/officeart/2005/8/layout/hProcess9"/>
    <dgm:cxn modelId="{83C4355D-F0E2-4FB4-A958-2DC1A221F525}" type="presParOf" srcId="{A951E4FB-681A-43A4-9C3D-A72DB5383BBD}" destId="{4EE3DCAE-3E4B-4A61-BC49-1E112B5A9CA0}" srcOrd="3" destOrd="0" presId="urn:microsoft.com/office/officeart/2005/8/layout/hProcess9"/>
    <dgm:cxn modelId="{037FDFE7-E67E-4E51-8E92-0A9CDC3B2557}" type="presParOf" srcId="{A951E4FB-681A-43A4-9C3D-A72DB5383BBD}" destId="{D2E6FD26-B6CE-489B-9DDC-53ACC85F7813}" srcOrd="4" destOrd="0" presId="urn:microsoft.com/office/officeart/2005/8/layout/hProcess9"/>
    <dgm:cxn modelId="{D59A69BC-A6AC-41A5-AB86-6458BBF84DDF}" type="presParOf" srcId="{A951E4FB-681A-43A4-9C3D-A72DB5383BBD}" destId="{F93572F9-EB59-48E4-B1C1-3064243F8584}" srcOrd="5" destOrd="0" presId="urn:microsoft.com/office/officeart/2005/8/layout/hProcess9"/>
    <dgm:cxn modelId="{7D1BBD91-FD25-4741-9B4D-728DF7BB25C1}" type="presParOf" srcId="{A951E4FB-681A-43A4-9C3D-A72DB5383BBD}" destId="{6A82F927-1165-4BFB-9F95-F993A0BD35BC}" srcOrd="6" destOrd="0" presId="urn:microsoft.com/office/officeart/2005/8/layout/hProcess9"/>
    <dgm:cxn modelId="{9711F427-F9E9-46DB-BF37-6BE9D159D806}" type="presParOf" srcId="{A951E4FB-681A-43A4-9C3D-A72DB5383BBD}" destId="{D8ABB11E-A1A5-446F-A922-93B058912550}" srcOrd="7" destOrd="0" presId="urn:microsoft.com/office/officeart/2005/8/layout/hProcess9"/>
    <dgm:cxn modelId="{A76F3321-E940-4ECC-9527-69D224BFCB15}" type="presParOf" srcId="{A951E4FB-681A-43A4-9C3D-A72DB5383BBD}" destId="{85C1D4A1-2016-4BCE-B737-15B9D4718D36}" srcOrd="8" destOrd="0" presId="urn:microsoft.com/office/officeart/2005/8/layout/hProcess9"/>
    <dgm:cxn modelId="{0DC583CF-1DE1-4639-B31F-72E0191722AF}" type="presParOf" srcId="{A951E4FB-681A-43A4-9C3D-A72DB5383BBD}" destId="{EBC845AF-29B4-4FB0-A05F-E93D5203051D}" srcOrd="9" destOrd="0" presId="urn:microsoft.com/office/officeart/2005/8/layout/hProcess9"/>
    <dgm:cxn modelId="{1EDDEFEA-8484-4E86-8DBB-2C9835435D1F}" type="presParOf" srcId="{A951E4FB-681A-43A4-9C3D-A72DB5383BBD}" destId="{C95603DE-4864-4B01-A417-09EDD91380B7}" srcOrd="10" destOrd="0" presId="urn:microsoft.com/office/officeart/2005/8/layout/hProcess9"/>
    <dgm:cxn modelId="{BAE21842-182A-46BD-806C-2B3CE254DAD1}" type="presParOf" srcId="{A951E4FB-681A-43A4-9C3D-A72DB5383BBD}" destId="{CE7AC70C-E2D4-42F2-91B6-82963B70CC15}" srcOrd="11" destOrd="0" presId="urn:microsoft.com/office/officeart/2005/8/layout/hProcess9"/>
    <dgm:cxn modelId="{C5C2A5D7-67CC-439E-859E-8C3EF07AC6C0}" type="presParOf" srcId="{A951E4FB-681A-43A4-9C3D-A72DB5383BBD}" destId="{D73D5F86-8235-43D3-A1AA-A23864F9A1FB}" srcOrd="12" destOrd="0" presId="urn:microsoft.com/office/officeart/2005/8/layout/hProcess9"/>
    <dgm:cxn modelId="{21549FFD-810A-4AE2-B5D3-37C97F8269F2}" type="presParOf" srcId="{A951E4FB-681A-43A4-9C3D-A72DB5383BBD}" destId="{301EDA15-BFE3-4B68-90BF-F2D5D079428D}" srcOrd="13" destOrd="0" presId="urn:microsoft.com/office/officeart/2005/8/layout/hProcess9"/>
    <dgm:cxn modelId="{F28C0872-738F-4D29-AEC2-48F4F243D237}" type="presParOf" srcId="{A951E4FB-681A-43A4-9C3D-A72DB5383BBD}" destId="{1DBCA4A4-D2FA-4668-9551-FC0B11927249}" srcOrd="14" destOrd="0" presId="urn:microsoft.com/office/officeart/2005/8/layout/hProcess9"/>
    <dgm:cxn modelId="{9FA3B52F-A6C9-4AD8-ADDE-EB2F68AD0EB6}" type="presParOf" srcId="{A951E4FB-681A-43A4-9C3D-A72DB5383BBD}" destId="{90C053DE-9ADF-4376-8EC2-80FA8454CB41}" srcOrd="15" destOrd="0" presId="urn:microsoft.com/office/officeart/2005/8/layout/hProcess9"/>
    <dgm:cxn modelId="{8E1BC419-E72D-421A-BC55-5AEAFF3ECED7}" type="presParOf" srcId="{A951E4FB-681A-43A4-9C3D-A72DB5383BBD}" destId="{0C13580A-4E4A-4902-BF65-DB2E785F21F7}" srcOrd="16" destOrd="0" presId="urn:microsoft.com/office/officeart/2005/8/layout/hProcess9"/>
    <dgm:cxn modelId="{CFA39797-95AF-48D0-A202-E70624EB7BFA}" type="presParOf" srcId="{A951E4FB-681A-43A4-9C3D-A72DB5383BBD}" destId="{A708ACAD-49A8-48A1-9BD9-D4E0E7423F2B}" srcOrd="17" destOrd="0" presId="urn:microsoft.com/office/officeart/2005/8/layout/hProcess9"/>
    <dgm:cxn modelId="{C34128AC-9F02-427F-8CFA-430E77DB8A4A}" type="presParOf" srcId="{A951E4FB-681A-43A4-9C3D-A72DB5383BBD}" destId="{61E7EADA-74A3-448B-A64C-8BD61B4E349A}" srcOrd="1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5163E1-6B76-404A-8F4F-C9C8011AA9BC}">
      <dsp:nvSpPr>
        <dsp:cNvPr id="0" name=""/>
        <dsp:cNvSpPr/>
      </dsp:nvSpPr>
      <dsp:spPr>
        <a:xfrm>
          <a:off x="904366" y="0"/>
          <a:ext cx="10249492" cy="2790131"/>
        </a:xfrm>
        <a:prstGeom prst="rightArrow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B9EF7D-4880-42FE-ADDE-55D8875DFFC7}">
      <dsp:nvSpPr>
        <dsp:cNvPr id="0" name=""/>
        <dsp:cNvSpPr/>
      </dsp:nvSpPr>
      <dsp:spPr>
        <a:xfrm>
          <a:off x="9052" y="837039"/>
          <a:ext cx="1120817" cy="111605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1] 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Patient Registration</a:t>
          </a:r>
          <a:endParaRPr lang="en-IN" sz="1300" kern="1200" dirty="0"/>
        </a:p>
      </dsp:txBody>
      <dsp:txXfrm>
        <a:off x="63533" y="891520"/>
        <a:ext cx="1011855" cy="1007090"/>
      </dsp:txXfrm>
    </dsp:sp>
    <dsp:sp modelId="{9F3A21A2-9824-41A1-BFFD-407FAE6EADE5}">
      <dsp:nvSpPr>
        <dsp:cNvPr id="0" name=""/>
        <dsp:cNvSpPr/>
      </dsp:nvSpPr>
      <dsp:spPr>
        <a:xfrm>
          <a:off x="1222308" y="837039"/>
          <a:ext cx="1120817" cy="1116052"/>
        </a:xfrm>
        <a:prstGeom prst="roundRect">
          <a:avLst/>
        </a:prstGeom>
        <a:solidFill>
          <a:schemeClr val="accent4">
            <a:hueOff val="-496086"/>
            <a:satOff val="2989"/>
            <a:lumOff val="24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2]                                       Language Selection &amp; Consent</a:t>
          </a:r>
          <a:endParaRPr lang="en-IN" sz="1300" kern="1200" dirty="0"/>
        </a:p>
      </dsp:txBody>
      <dsp:txXfrm>
        <a:off x="1276789" y="891520"/>
        <a:ext cx="1011855" cy="1007090"/>
      </dsp:txXfrm>
    </dsp:sp>
    <dsp:sp modelId="{D2E6FD26-B6CE-489B-9DDC-53ACC85F7813}">
      <dsp:nvSpPr>
        <dsp:cNvPr id="0" name=""/>
        <dsp:cNvSpPr/>
      </dsp:nvSpPr>
      <dsp:spPr>
        <a:xfrm>
          <a:off x="2435564" y="837039"/>
          <a:ext cx="1120817" cy="1116052"/>
        </a:xfrm>
        <a:prstGeom prst="roundRect">
          <a:avLst/>
        </a:prstGeom>
        <a:solidFill>
          <a:schemeClr val="accent4">
            <a:hueOff val="-992171"/>
            <a:satOff val="5978"/>
            <a:lumOff val="47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3]                                      Voice/text Case Taking </a:t>
          </a:r>
          <a:endParaRPr lang="en-IN" sz="1300" kern="1200" dirty="0"/>
        </a:p>
      </dsp:txBody>
      <dsp:txXfrm>
        <a:off x="2490045" y="891520"/>
        <a:ext cx="1011855" cy="1007090"/>
      </dsp:txXfrm>
    </dsp:sp>
    <dsp:sp modelId="{6A82F927-1165-4BFB-9F95-F993A0BD35BC}">
      <dsp:nvSpPr>
        <dsp:cNvPr id="0" name=""/>
        <dsp:cNvSpPr/>
      </dsp:nvSpPr>
      <dsp:spPr>
        <a:xfrm>
          <a:off x="3648820" y="837039"/>
          <a:ext cx="1120817" cy="1116052"/>
        </a:xfrm>
        <a:prstGeom prst="roundRect">
          <a:avLst/>
        </a:prstGeom>
        <a:solidFill>
          <a:schemeClr val="accent4">
            <a:hueOff val="-1488257"/>
            <a:satOff val="8966"/>
            <a:lumOff val="71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4]                   AI Asks Relevant Questions </a:t>
          </a:r>
          <a:endParaRPr lang="en-IN" sz="1300" kern="1200" dirty="0"/>
        </a:p>
      </dsp:txBody>
      <dsp:txXfrm>
        <a:off x="3703301" y="891520"/>
        <a:ext cx="1011855" cy="1007090"/>
      </dsp:txXfrm>
    </dsp:sp>
    <dsp:sp modelId="{85C1D4A1-2016-4BCE-B737-15B9D4718D36}">
      <dsp:nvSpPr>
        <dsp:cNvPr id="0" name=""/>
        <dsp:cNvSpPr/>
      </dsp:nvSpPr>
      <dsp:spPr>
        <a:xfrm>
          <a:off x="4862076" y="837039"/>
          <a:ext cx="1120817" cy="1116052"/>
        </a:xfrm>
        <a:prstGeom prst="roundRect">
          <a:avLst/>
        </a:prstGeom>
        <a:solidFill>
          <a:schemeClr val="accent4">
            <a:hueOff val="-1984342"/>
            <a:satOff val="11955"/>
            <a:lumOff val="9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5]                     OCR of Previous Medical Documents</a:t>
          </a:r>
          <a:endParaRPr lang="en-IN" sz="1300" kern="1200" dirty="0"/>
        </a:p>
      </dsp:txBody>
      <dsp:txXfrm>
        <a:off x="4916557" y="891520"/>
        <a:ext cx="1011855" cy="1007090"/>
      </dsp:txXfrm>
    </dsp:sp>
    <dsp:sp modelId="{C95603DE-4864-4B01-A417-09EDD91380B7}">
      <dsp:nvSpPr>
        <dsp:cNvPr id="0" name=""/>
        <dsp:cNvSpPr/>
      </dsp:nvSpPr>
      <dsp:spPr>
        <a:xfrm>
          <a:off x="6075332" y="837039"/>
          <a:ext cx="1120817" cy="1116052"/>
        </a:xfrm>
        <a:prstGeom prst="roundRect">
          <a:avLst/>
        </a:prstGeom>
        <a:solidFill>
          <a:schemeClr val="accent4">
            <a:hueOff val="-2480428"/>
            <a:satOff val="14944"/>
            <a:lumOff val="11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6]                                Information Structuring </a:t>
          </a:r>
          <a:endParaRPr lang="en-IN" sz="1300" kern="1200" dirty="0"/>
        </a:p>
      </dsp:txBody>
      <dsp:txXfrm>
        <a:off x="6129813" y="891520"/>
        <a:ext cx="1011855" cy="1007090"/>
      </dsp:txXfrm>
    </dsp:sp>
    <dsp:sp modelId="{D73D5F86-8235-43D3-A1AA-A23864F9A1FB}">
      <dsp:nvSpPr>
        <dsp:cNvPr id="0" name=""/>
        <dsp:cNvSpPr/>
      </dsp:nvSpPr>
      <dsp:spPr>
        <a:xfrm>
          <a:off x="7288588" y="837039"/>
          <a:ext cx="1120817" cy="1116052"/>
        </a:xfrm>
        <a:prstGeom prst="roundRect">
          <a:avLst/>
        </a:prstGeom>
        <a:solidFill>
          <a:schemeClr val="accent4">
            <a:hueOff val="-2976513"/>
            <a:satOff val="17933"/>
            <a:lumOff val="143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7]                               Patient Medical Timeline </a:t>
          </a:r>
          <a:endParaRPr lang="en-IN" sz="1300" kern="1200" dirty="0"/>
        </a:p>
      </dsp:txBody>
      <dsp:txXfrm>
        <a:off x="7343069" y="891520"/>
        <a:ext cx="1011855" cy="1007090"/>
      </dsp:txXfrm>
    </dsp:sp>
    <dsp:sp modelId="{1DBCA4A4-D2FA-4668-9551-FC0B11927249}">
      <dsp:nvSpPr>
        <dsp:cNvPr id="0" name=""/>
        <dsp:cNvSpPr/>
      </dsp:nvSpPr>
      <dsp:spPr>
        <a:xfrm>
          <a:off x="8501844" y="837039"/>
          <a:ext cx="1120817" cy="1116052"/>
        </a:xfrm>
        <a:prstGeom prst="roundRect">
          <a:avLst/>
        </a:prstGeom>
        <a:solidFill>
          <a:schemeClr val="accent4">
            <a:hueOff val="-3472599"/>
            <a:satOff val="20921"/>
            <a:lumOff val="16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8]                     AI Generated Case Summary</a:t>
          </a:r>
          <a:endParaRPr lang="en-IN" sz="1300" kern="1200" dirty="0"/>
        </a:p>
      </dsp:txBody>
      <dsp:txXfrm>
        <a:off x="8556325" y="891520"/>
        <a:ext cx="1011855" cy="1007090"/>
      </dsp:txXfrm>
    </dsp:sp>
    <dsp:sp modelId="{0C13580A-4E4A-4902-BF65-DB2E785F21F7}">
      <dsp:nvSpPr>
        <dsp:cNvPr id="0" name=""/>
        <dsp:cNvSpPr/>
      </dsp:nvSpPr>
      <dsp:spPr>
        <a:xfrm>
          <a:off x="9715100" y="837039"/>
          <a:ext cx="1120817" cy="1116052"/>
        </a:xfrm>
        <a:prstGeom prst="roundRect">
          <a:avLst/>
        </a:prstGeom>
        <a:solidFill>
          <a:schemeClr val="accent4">
            <a:hueOff val="-3968684"/>
            <a:satOff val="23910"/>
            <a:lumOff val="191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9]              Doctor Reviews &amp; Edits </a:t>
          </a:r>
          <a:endParaRPr lang="en-IN" sz="1300" kern="1200" dirty="0"/>
        </a:p>
      </dsp:txBody>
      <dsp:txXfrm>
        <a:off x="9769581" y="891520"/>
        <a:ext cx="1011855" cy="1007090"/>
      </dsp:txXfrm>
    </dsp:sp>
    <dsp:sp modelId="{61E7EADA-74A3-448B-A64C-8BD61B4E349A}">
      <dsp:nvSpPr>
        <dsp:cNvPr id="0" name=""/>
        <dsp:cNvSpPr/>
      </dsp:nvSpPr>
      <dsp:spPr>
        <a:xfrm>
          <a:off x="10928356" y="837039"/>
          <a:ext cx="1120817" cy="1116052"/>
        </a:xfrm>
        <a:prstGeom prst="round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10]                        Final Patient Record </a:t>
          </a:r>
          <a:endParaRPr lang="en-IN" sz="1300" kern="1200" dirty="0"/>
        </a:p>
      </dsp:txBody>
      <dsp:txXfrm>
        <a:off x="10982837" y="891520"/>
        <a:ext cx="1011855" cy="10070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diagramColors" Target="../diagrams/colors1.xml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12" Type="http://schemas.openxmlformats.org/officeDocument/2006/relationships/diagramQuickStyle" Target="../diagrams/quickStyl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diagramLayout" Target="../diagrams/layout1.xml"/><Relationship Id="rId5" Type="http://schemas.openxmlformats.org/officeDocument/2006/relationships/image" Target="../media/image8.png"/><Relationship Id="rId10" Type="http://schemas.openxmlformats.org/officeDocument/2006/relationships/diagramData" Target="../diagrams/data1.xml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microsoft.com/office/2007/relationships/diagramDrawing" Target="../diagrams/drawin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search?q=https://www.ncbi.nlm.nih.gov/pmc/articles/PMC10415177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doi.org/10.1038/s41586-023-06291-2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eeexplore.ieee.org/document/9956805" TargetMode="External"/><Relationship Id="rId5" Type="http://schemas.openxmlformats.org/officeDocument/2006/relationships/hyperlink" Target="https://ieeexplore.ieee.org/document/10227516" TargetMode="Externa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4651" y="1431178"/>
            <a:ext cx="6227625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26047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</a:t>
            </a:r>
          </a:p>
          <a:p>
            <a:pPr algn="just">
              <a:lnSpc>
                <a:spcPct val="20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  Patient Case-Taking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 63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Bharat Innovators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17862" y="218275"/>
            <a:ext cx="163667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Bharat</a:t>
            </a:r>
          </a:p>
          <a:p>
            <a:pPr algn="ctr"/>
            <a:r>
              <a:rPr lang="en-US" dirty="0"/>
              <a:t>Innovator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Arrow: Pentagon 2">
            <a:extLst>
              <a:ext uri="{FF2B5EF4-FFF2-40B4-BE49-F238E27FC236}">
                <a16:creationId xmlns:a16="http://schemas.microsoft.com/office/drawing/2014/main" id="{5C3FEFA3-3C35-CB99-ECE3-E4C7B30D519C}"/>
              </a:ext>
            </a:extLst>
          </p:cNvPr>
          <p:cNvSpPr/>
          <p:nvPr/>
        </p:nvSpPr>
        <p:spPr>
          <a:xfrm>
            <a:off x="116691" y="1447267"/>
            <a:ext cx="6585147" cy="593694"/>
          </a:xfrm>
          <a:prstGeom prst="homePlate">
            <a:avLst>
              <a:gd name="adj" fmla="val 88072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356420-DAE9-3165-1374-DD21A7B93F2C}"/>
              </a:ext>
            </a:extLst>
          </p:cNvPr>
          <p:cNvSpPr txBox="1"/>
          <p:nvPr/>
        </p:nvSpPr>
        <p:spPr>
          <a:xfrm>
            <a:off x="487326" y="1570081"/>
            <a:ext cx="6148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AI AYUCASE AI – Patient Case Taking Software 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19361579-819C-9A2A-A22C-1804013368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00" y="1662640"/>
            <a:ext cx="247650" cy="247650"/>
          </a:xfrm>
          <a:prstGeom prst="rect">
            <a:avLst/>
          </a:prstGeom>
        </p:spPr>
      </p:pic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8E890DB3-A68B-B0DD-2E5D-EC85991750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851" y="1575823"/>
            <a:ext cx="400348" cy="400348"/>
          </a:xfrm>
          <a:prstGeom prst="rect">
            <a:avLst/>
          </a:prstGeom>
        </p:spPr>
      </p:pic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03480DC9-5F3D-C52D-4000-DC9D62E129B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4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000113" y="2278547"/>
            <a:ext cx="4457908" cy="377775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9A22072-C9E4-918A-C4DD-BA04813DA85A}"/>
              </a:ext>
            </a:extLst>
          </p:cNvPr>
          <p:cNvSpPr txBox="1"/>
          <p:nvPr/>
        </p:nvSpPr>
        <p:spPr>
          <a:xfrm>
            <a:off x="4123731" y="2360356"/>
            <a:ext cx="436598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000" b="1" dirty="0">
                <a:solidFill>
                  <a:srgbClr val="0F172A"/>
                </a:solidFill>
                <a:latin typeface="Plus Jakarta Sans"/>
              </a:rPr>
              <a:t>Key Capabilities &amp; Features</a:t>
            </a:r>
          </a:p>
          <a:p>
            <a:endParaRPr lang="en-IN" sz="2000" b="1" dirty="0">
              <a:solidFill>
                <a:srgbClr val="0F172A"/>
              </a:solidFill>
              <a:latin typeface="Plus Jakarta Sans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334155"/>
                </a:solidFill>
                <a:latin typeface="Inter"/>
              </a:rPr>
              <a:t>AI-Based Digital Case-Taking:</a:t>
            </a:r>
            <a:r>
              <a:rPr lang="en-US" sz="1600" dirty="0">
                <a:solidFill>
                  <a:srgbClr val="334155"/>
                </a:solidFill>
                <a:latin typeface="Inter"/>
              </a:rPr>
              <a:t> Automates initial OPD intake using conversational voice &amp; text AI.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rgbClr val="334155"/>
                </a:solidFill>
                <a:latin typeface="Inter"/>
              </a:rPr>
              <a:t>Multilingual Voice Support:</a:t>
            </a:r>
            <a:r>
              <a:rPr lang="en-IN" sz="1600" dirty="0">
                <a:solidFill>
                  <a:srgbClr val="334155"/>
                </a:solidFill>
                <a:latin typeface="Inter"/>
              </a:rPr>
              <a:t> Interacts seamlessly in Hindi, Tamil, Telugu, Bengali, Marathi &amp; 10+ Indic languages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334155"/>
                </a:solidFill>
                <a:latin typeface="Inter"/>
              </a:rPr>
              <a:t>Structured Clinical Summaries:</a:t>
            </a:r>
            <a:r>
              <a:rPr lang="en-US" sz="1600" dirty="0">
                <a:solidFill>
                  <a:srgbClr val="334155"/>
                </a:solidFill>
                <a:latin typeface="Inter"/>
              </a:rPr>
              <a:t> Generates standardized medical timelines and EHR summaries for doctors.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334155"/>
                </a:solidFill>
                <a:latin typeface="Inter"/>
              </a:rPr>
              <a:t>OPD Optimization:</a:t>
            </a:r>
            <a:r>
              <a:rPr lang="en-US" sz="1600" dirty="0">
                <a:solidFill>
                  <a:srgbClr val="334155"/>
                </a:solidFill>
                <a:latin typeface="Inter"/>
              </a:rPr>
              <a:t> Eliminates manual paperwork, reducing doctor consultation preparation time by over 60%.</a:t>
            </a:r>
          </a:p>
          <a:p>
            <a:endParaRPr lang="en-IN" b="1" dirty="0">
              <a:solidFill>
                <a:srgbClr val="0F172A"/>
              </a:solidFill>
              <a:latin typeface="Plus Jakarta Sans"/>
            </a:endParaRPr>
          </a:p>
          <a:p>
            <a:endParaRPr lang="en-IN" b="1" dirty="0">
              <a:solidFill>
                <a:srgbClr val="0F172A"/>
              </a:solidFill>
              <a:latin typeface="Plus Jakarta Sans"/>
            </a:endParaRPr>
          </a:p>
          <a:p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E90F12D-A5A5-A61E-E4E1-4183A42BA6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6080" y="2278547"/>
            <a:ext cx="3540220" cy="3757407"/>
          </a:xfrm>
          <a:prstGeom prst="rect">
            <a:avLst/>
          </a:prstGeom>
        </p:spPr>
      </p:pic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9B0A11DC-B2D1-D5DA-F31F-2A75AEF8037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4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5700" y="2261001"/>
            <a:ext cx="3821987" cy="377775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B771382-A167-DF99-0D4B-BA68D52888AD}"/>
              </a:ext>
            </a:extLst>
          </p:cNvPr>
          <p:cNvSpPr txBox="1"/>
          <p:nvPr/>
        </p:nvSpPr>
        <p:spPr>
          <a:xfrm>
            <a:off x="268006" y="2414615"/>
            <a:ext cx="3661221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>
                <a:solidFill>
                  <a:srgbClr val="0F172A"/>
                </a:solidFill>
                <a:latin typeface="Plus Jakarta Sans"/>
              </a:rPr>
              <a:t>Problem Statement:</a:t>
            </a:r>
          </a:p>
          <a:p>
            <a:endParaRPr lang="en-IN" sz="1600" b="1" dirty="0">
              <a:solidFill>
                <a:srgbClr val="0F172A"/>
              </a:solidFill>
              <a:latin typeface="Plus Jakarta Sans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>
                <a:latin typeface="Inter"/>
                <a:cs typeface="Arial" panose="020B0604020202020204" pitchFamily="34" charset="0"/>
              </a:rPr>
              <a:t>Indian OPD doctors get only 2–5 minutes per patient, leaving no time for proper history-taking, which decides 70–80% of diagnoses.</a:t>
            </a:r>
            <a:endParaRPr lang="en-IN" sz="1600" b="1" dirty="0">
              <a:solidFill>
                <a:srgbClr val="0F172A"/>
              </a:solidFill>
              <a:latin typeface="Inter"/>
              <a:cs typeface="Arial" panose="020B0604020202020204" pitchFamily="34" charset="0"/>
            </a:endParaRPr>
          </a:p>
          <a:p>
            <a:pPr marL="342900" lvl="0" indent="-342900" defTabSz="914400" eaLnBrk="0" hangingPunct="0">
              <a:buFont typeface="Wingdings" panose="05000000000000000000" pitchFamily="2" charset="2"/>
              <a:buChar char="Ø"/>
            </a:pPr>
            <a:r>
              <a:rPr lang="en-US" altLang="en-US" sz="1600" dirty="0">
                <a:latin typeface="Inter"/>
              </a:rPr>
              <a:t>Patients carry scattered paper records that further eat into this time, with no system to digitize or structure them beforehand. </a:t>
            </a:r>
          </a:p>
          <a:p>
            <a:pPr marL="342900" lvl="0" indent="-342900" defTabSz="914400" eaLnBrk="0" hangingPunct="0">
              <a:buFont typeface="Wingdings" panose="05000000000000000000" pitchFamily="2" charset="2"/>
              <a:buChar char="Ø"/>
            </a:pPr>
            <a:r>
              <a:rPr lang="en-US" altLang="en-US" sz="1600" dirty="0">
                <a:latin typeface="Inter"/>
              </a:rPr>
              <a:t> Need: an AI platform that conversationally captures patient history and digitizes documents, giving doctors a ready, ABHA-linked </a:t>
            </a:r>
            <a:endParaRPr lang="en-US" sz="1600" dirty="0">
              <a:latin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2516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Bharat</a:t>
            </a:r>
          </a:p>
          <a:p>
            <a:pPr algn="ctr"/>
            <a:r>
              <a:rPr lang="en-US" dirty="0"/>
              <a:t>Innovator</a:t>
            </a:r>
            <a:endParaRPr lang="en-IN" dirty="0"/>
          </a:p>
          <a:p>
            <a:pPr algn="ctr"/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96D8427A-2107-3949-0AB9-065E5F56F9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427" y="1421784"/>
            <a:ext cx="2125860" cy="1711374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233DFD38-8B66-F518-C38F-B630C940DF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6852" y="1375781"/>
            <a:ext cx="2125860" cy="1711374"/>
          </a:xfrm>
          <a:prstGeom prst="rect">
            <a:avLst/>
          </a:prstGeom>
        </p:spPr>
      </p:pic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B11E0332-DF5C-FD8F-B8B8-87475E2F16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0260" y="1395246"/>
            <a:ext cx="2125860" cy="1711374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01DE8CC9-5BF3-0CA2-DEE5-B36DC5B9E8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1753" y="1395246"/>
            <a:ext cx="2125860" cy="1711374"/>
          </a:xfrm>
          <a:prstGeom prst="rect">
            <a:avLst/>
          </a:prstGeom>
        </p:spPr>
      </p:pic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6F8CD6CE-9A00-3B76-36BD-25BFCF6C92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2413" y="1395246"/>
            <a:ext cx="2125860" cy="171137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2FFB992-60B8-5837-EB55-871F3767783C}"/>
              </a:ext>
            </a:extLst>
          </p:cNvPr>
          <p:cNvSpPr txBox="1"/>
          <p:nvPr/>
        </p:nvSpPr>
        <p:spPr>
          <a:xfrm>
            <a:off x="356529" y="1844321"/>
            <a:ext cx="156439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/>
              <a:t>  Frontend</a:t>
            </a:r>
          </a:p>
          <a:p>
            <a:pPr algn="ctr"/>
            <a:r>
              <a:rPr lang="en-US" sz="1600" dirty="0"/>
              <a:t>HTML,CSS</a:t>
            </a:r>
          </a:p>
          <a:p>
            <a:pPr algn="ctr"/>
            <a:r>
              <a:rPr lang="en-US" sz="1600" dirty="0" err="1"/>
              <a:t>Javascript</a:t>
            </a:r>
            <a:endParaRPr lang="en-IN" sz="1600" dirty="0"/>
          </a:p>
        </p:txBody>
      </p:sp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FC09426B-2175-A27E-0D08-7E47B317EF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753" y="1576342"/>
            <a:ext cx="161925" cy="2095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7ED83C4-B0CF-63A8-70E4-DE3F92E18CFB}"/>
              </a:ext>
            </a:extLst>
          </p:cNvPr>
          <p:cNvSpPr txBox="1"/>
          <p:nvPr/>
        </p:nvSpPr>
        <p:spPr>
          <a:xfrm>
            <a:off x="2843734" y="1854219"/>
            <a:ext cx="156439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/>
              <a:t>  Backend</a:t>
            </a:r>
          </a:p>
          <a:p>
            <a:pPr algn="ctr"/>
            <a:r>
              <a:rPr lang="en-US" sz="1600" dirty="0"/>
              <a:t>Python Flask Framework</a:t>
            </a:r>
            <a:endParaRPr lang="en-IN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80BB05-E4F9-2E04-D897-3C32C610FAD1}"/>
              </a:ext>
            </a:extLst>
          </p:cNvPr>
          <p:cNvSpPr txBox="1"/>
          <p:nvPr/>
        </p:nvSpPr>
        <p:spPr>
          <a:xfrm>
            <a:off x="10241067" y="1721210"/>
            <a:ext cx="156439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/>
              <a:t>  Security</a:t>
            </a:r>
          </a:p>
          <a:p>
            <a:pPr algn="ctr"/>
            <a:r>
              <a:rPr lang="en-US" sz="1600" dirty="0">
                <a:latin typeface="+mn-lt"/>
              </a:rPr>
              <a:t> Encryption + Role-Based Access Control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AFD237-ACA6-D29B-BA72-E4C98BC359C7}"/>
              </a:ext>
            </a:extLst>
          </p:cNvPr>
          <p:cNvSpPr txBox="1"/>
          <p:nvPr/>
        </p:nvSpPr>
        <p:spPr>
          <a:xfrm>
            <a:off x="7902485" y="1806606"/>
            <a:ext cx="156439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  </a:t>
            </a:r>
            <a:r>
              <a:rPr lang="en-US" b="1" dirty="0"/>
              <a:t>AI &amp; NLP Engine</a:t>
            </a:r>
          </a:p>
          <a:p>
            <a:pPr algn="ctr"/>
            <a:r>
              <a:rPr lang="en-US" sz="1600" dirty="0">
                <a:latin typeface="+mn-lt"/>
              </a:rPr>
              <a:t>NLP, Speech-to-Text , OCR</a:t>
            </a:r>
            <a:r>
              <a:rPr lang="en-US" dirty="0">
                <a:solidFill>
                  <a:srgbClr val="64748B"/>
                </a:solidFill>
                <a:latin typeface="Inter"/>
              </a:rPr>
              <a:t>.</a:t>
            </a:r>
          </a:p>
          <a:p>
            <a:pPr algn="ctr"/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693062-42E7-8B46-F79E-A4FF34987002}"/>
              </a:ext>
            </a:extLst>
          </p:cNvPr>
          <p:cNvSpPr txBox="1"/>
          <p:nvPr/>
        </p:nvSpPr>
        <p:spPr>
          <a:xfrm>
            <a:off x="5347584" y="1784490"/>
            <a:ext cx="156439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/>
              <a:t>  Database</a:t>
            </a:r>
          </a:p>
          <a:p>
            <a:pPr algn="ctr"/>
            <a:r>
              <a:rPr lang="en-US" sz="1600" dirty="0">
                <a:latin typeface="+mn-lt"/>
              </a:rPr>
              <a:t>PostgreSQL with JSONB</a:t>
            </a:r>
          </a:p>
        </p:txBody>
      </p:sp>
      <p:pic>
        <p:nvPicPr>
          <p:cNvPr id="17408" name="Picture 17407" descr="image.png">
            <a:extLst>
              <a:ext uri="{FF2B5EF4-FFF2-40B4-BE49-F238E27FC236}">
                <a16:creationId xmlns:a16="http://schemas.microsoft.com/office/drawing/2014/main" id="{247E23D0-2E2D-7CA7-B07F-208AC35F07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3116" y="1556604"/>
            <a:ext cx="209550" cy="209550"/>
          </a:xfrm>
          <a:prstGeom prst="rect">
            <a:avLst/>
          </a:prstGeom>
        </p:spPr>
      </p:pic>
      <p:pic>
        <p:nvPicPr>
          <p:cNvPr id="17411" name="Picture 17410" descr="image.png">
            <a:extLst>
              <a:ext uri="{FF2B5EF4-FFF2-40B4-BE49-F238E27FC236}">
                <a16:creationId xmlns:a16="http://schemas.microsoft.com/office/drawing/2014/main" id="{68D33BE2-D666-F85E-DF0D-8C462C02BA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0222" y="1528265"/>
            <a:ext cx="266700" cy="209550"/>
          </a:xfrm>
          <a:prstGeom prst="rect">
            <a:avLst/>
          </a:prstGeom>
        </p:spPr>
      </p:pic>
      <p:pic>
        <p:nvPicPr>
          <p:cNvPr id="17412" name="Picture 17411" descr="image.png">
            <a:extLst>
              <a:ext uri="{FF2B5EF4-FFF2-40B4-BE49-F238E27FC236}">
                <a16:creationId xmlns:a16="http://schemas.microsoft.com/office/drawing/2014/main" id="{323B2D88-5277-80E8-E031-5B796EAF65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4397" y="1533196"/>
            <a:ext cx="180975" cy="209550"/>
          </a:xfrm>
          <a:prstGeom prst="rect">
            <a:avLst/>
          </a:prstGeom>
        </p:spPr>
      </p:pic>
      <p:pic>
        <p:nvPicPr>
          <p:cNvPr id="17413" name="Picture 17412" descr="image.png">
            <a:extLst>
              <a:ext uri="{FF2B5EF4-FFF2-40B4-BE49-F238E27FC236}">
                <a16:creationId xmlns:a16="http://schemas.microsoft.com/office/drawing/2014/main" id="{8509B96B-880D-0211-F09E-BFA24F0507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15343" y="1528265"/>
            <a:ext cx="209550" cy="209550"/>
          </a:xfrm>
          <a:prstGeom prst="rect">
            <a:avLst/>
          </a:prstGeom>
        </p:spPr>
      </p:pic>
      <p:sp>
        <p:nvSpPr>
          <p:cNvPr id="17414" name="TextBox 17413">
            <a:extLst>
              <a:ext uri="{FF2B5EF4-FFF2-40B4-BE49-F238E27FC236}">
                <a16:creationId xmlns:a16="http://schemas.microsoft.com/office/drawing/2014/main" id="{BB6A53F2-0D4A-79AE-1547-C8E694D2245F}"/>
              </a:ext>
            </a:extLst>
          </p:cNvPr>
          <p:cNvSpPr txBox="1"/>
          <p:nvPr/>
        </p:nvSpPr>
        <p:spPr>
          <a:xfrm>
            <a:off x="13727" y="3624756"/>
            <a:ext cx="33736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/>
              <a:t>Implementation Flow -</a:t>
            </a:r>
            <a:endParaRPr lang="en-IN" sz="2000" b="1" dirty="0"/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1E64CC5B-BC05-6B43-D1A7-38E37E316D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5666967"/>
              </p:ext>
            </p:extLst>
          </p:nvPr>
        </p:nvGraphicFramePr>
        <p:xfrm>
          <a:off x="100668" y="3594514"/>
          <a:ext cx="12058226" cy="27901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1701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Bharat</a:t>
            </a:r>
          </a:p>
          <a:p>
            <a:pPr algn="ctr"/>
            <a:r>
              <a:rPr lang="en-US" dirty="0"/>
              <a:t>Innovator</a:t>
            </a:r>
            <a:endParaRPr lang="en-IN" dirty="0"/>
          </a:p>
          <a:p>
            <a:pPr algn="ctr"/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3AEB6D2-D53F-E6E3-0450-26A19A7F6768}"/>
              </a:ext>
            </a:extLst>
          </p:cNvPr>
          <p:cNvSpPr/>
          <p:nvPr/>
        </p:nvSpPr>
        <p:spPr>
          <a:xfrm>
            <a:off x="609600" y="1395246"/>
            <a:ext cx="10972800" cy="198267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6F7251-02AD-0196-B483-79820FD18BC4}"/>
              </a:ext>
            </a:extLst>
          </p:cNvPr>
          <p:cNvSpPr txBox="1"/>
          <p:nvPr/>
        </p:nvSpPr>
        <p:spPr>
          <a:xfrm>
            <a:off x="869414" y="1496769"/>
            <a:ext cx="7403335" cy="1665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Feasible because: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Uses existing AI, OCR and NLP technologies.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Works on mobile/tablet/computer.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Can be developed as a software-first system.</a:t>
            </a:r>
            <a:endParaRPr lang="en-IN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CE4F21E5-606D-6B90-BD4E-7FAD12AFC6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565686"/>
            <a:ext cx="5486399" cy="2652554"/>
          </a:xfrm>
          <a:prstGeom prst="rect">
            <a:avLst/>
          </a:prstGeom>
        </p:spPr>
      </p:pic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A1024C4A-D640-0363-91D3-E7990E3689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399" y="3540066"/>
            <a:ext cx="5334001" cy="26525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4EADBFD-9FD7-A8FE-621A-57287EC43201}"/>
              </a:ext>
            </a:extLst>
          </p:cNvPr>
          <p:cNvSpPr txBox="1"/>
          <p:nvPr/>
        </p:nvSpPr>
        <p:spPr>
          <a:xfrm>
            <a:off x="946532" y="3805214"/>
            <a:ext cx="4352581" cy="2080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Challenges: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Regional accents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Handwritten documents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Data privacy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Incorrect AI responses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8A5BD3-9A61-7E3E-4CC9-9594E798C8D6}"/>
              </a:ext>
            </a:extLst>
          </p:cNvPr>
          <p:cNvSpPr txBox="1"/>
          <p:nvPr/>
        </p:nvSpPr>
        <p:spPr>
          <a:xfrm>
            <a:off x="6561309" y="3805214"/>
            <a:ext cx="4352581" cy="2080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Solutions: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Confirmation prompts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Human verification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Encryption &amp; role-based access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Doctor approval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7265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Bharat</a:t>
            </a:r>
          </a:p>
          <a:p>
            <a:pPr algn="ctr"/>
            <a:r>
              <a:rPr lang="en-US" dirty="0"/>
              <a:t>Innovator</a:t>
            </a:r>
            <a:endParaRPr lang="en-IN" dirty="0"/>
          </a:p>
          <a:p>
            <a:pPr algn="ctr"/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2636601-1F57-858E-1B1A-3BBE7461EC1D}"/>
              </a:ext>
            </a:extLst>
          </p:cNvPr>
          <p:cNvSpPr/>
          <p:nvPr/>
        </p:nvSpPr>
        <p:spPr>
          <a:xfrm>
            <a:off x="609600" y="1443210"/>
            <a:ext cx="3025966" cy="44618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2F7F9A-8144-7D99-3091-90CD401DE9AB}"/>
              </a:ext>
            </a:extLst>
          </p:cNvPr>
          <p:cNvSpPr/>
          <p:nvPr/>
        </p:nvSpPr>
        <p:spPr>
          <a:xfrm>
            <a:off x="4437961" y="1443209"/>
            <a:ext cx="3025966" cy="44618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B07F22-0C0D-2EE3-4852-6639C5359C7E}"/>
              </a:ext>
            </a:extLst>
          </p:cNvPr>
          <p:cNvSpPr/>
          <p:nvPr/>
        </p:nvSpPr>
        <p:spPr>
          <a:xfrm>
            <a:off x="8460954" y="1443210"/>
            <a:ext cx="3025966" cy="44618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53E9BEFE-40BE-9AFC-DE6F-59E8F23208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4391" y="1545096"/>
            <a:ext cx="431610" cy="483403"/>
          </a:xfrm>
          <a:prstGeom prst="rect">
            <a:avLst/>
          </a:prstGeom>
        </p:spPr>
      </p:pic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67C6B930-2BE6-5805-62E1-83762E3DB0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798" y="1545096"/>
            <a:ext cx="428631" cy="375052"/>
          </a:xfrm>
          <a:prstGeom prst="rect">
            <a:avLst/>
          </a:prstGeom>
        </p:spPr>
      </p:pic>
      <p:pic>
        <p:nvPicPr>
          <p:cNvPr id="18" name="Picture 17" descr="image.png">
            <a:extLst>
              <a:ext uri="{FF2B5EF4-FFF2-40B4-BE49-F238E27FC236}">
                <a16:creationId xmlns:a16="http://schemas.microsoft.com/office/drawing/2014/main" id="{686B297C-E172-ADC4-04C5-6034C8F895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4571" y="1572481"/>
            <a:ext cx="428631" cy="42863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915421B-8665-FAA0-6BC3-FDBFFFA13E11}"/>
              </a:ext>
            </a:extLst>
          </p:cNvPr>
          <p:cNvSpPr txBox="1"/>
          <p:nvPr/>
        </p:nvSpPr>
        <p:spPr>
          <a:xfrm>
            <a:off x="826265" y="2423711"/>
            <a:ext cx="2500829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For Patients:</a:t>
            </a:r>
          </a:p>
          <a:p>
            <a:pPr algn="ctr"/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Faster case-taking</a:t>
            </a:r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 Regional-language support</a:t>
            </a:r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Less repetitive questioning</a:t>
            </a:r>
            <a:endParaRPr lang="en-IN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603B90-3348-C91F-C2A9-D52BA4036E0E}"/>
              </a:ext>
            </a:extLst>
          </p:cNvPr>
          <p:cNvSpPr txBox="1"/>
          <p:nvPr/>
        </p:nvSpPr>
        <p:spPr>
          <a:xfrm>
            <a:off x="4648200" y="2423711"/>
            <a:ext cx="2500829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For Doctors:</a:t>
            </a:r>
          </a:p>
          <a:p>
            <a:pPr algn="ctr"/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Structured history Quick access to records</a:t>
            </a:r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Reduced documentation work</a:t>
            </a:r>
            <a:endParaRPr lang="en-IN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2F3D22-2645-114F-73D8-C48E7FA3C672}"/>
              </a:ext>
            </a:extLst>
          </p:cNvPr>
          <p:cNvSpPr txBox="1"/>
          <p:nvPr/>
        </p:nvSpPr>
        <p:spPr>
          <a:xfrm>
            <a:off x="8529671" y="2418482"/>
            <a:ext cx="2500829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For Hospitals:</a:t>
            </a:r>
          </a:p>
          <a:p>
            <a:pPr algn="ctr"/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Paperless records</a:t>
            </a:r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Faster OPD workflow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Better record management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5466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Bharat</a:t>
            </a:r>
          </a:p>
          <a:p>
            <a:pPr algn="ctr"/>
            <a:r>
              <a:rPr lang="en-US" dirty="0"/>
              <a:t>Innovator</a:t>
            </a:r>
            <a:endParaRPr lang="en-IN" dirty="0"/>
          </a:p>
          <a:p>
            <a:pPr algn="ctr"/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6FEAD696-F8C5-23B8-08B7-8066A200F9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154" y="1254134"/>
            <a:ext cx="11209781" cy="49734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91BE6E-39F8-5070-55B7-6D3A23AE9E57}"/>
              </a:ext>
            </a:extLst>
          </p:cNvPr>
          <p:cNvSpPr txBox="1"/>
          <p:nvPr/>
        </p:nvSpPr>
        <p:spPr>
          <a:xfrm>
            <a:off x="1288937" y="1416926"/>
            <a:ext cx="992252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1] Q. Xie, P. Tiwari, and S. </a:t>
            </a:r>
            <a:r>
              <a:rPr lang="en-IN" dirty="0" err="1"/>
              <a:t>Ananiadou</a:t>
            </a:r>
            <a:r>
              <a:rPr lang="en-IN" dirty="0"/>
              <a:t>, "Knowledge-Enhanced Graph Topic Transformer for Explainable Biomedical Text Summarization," IEEE Journal of Biomedical and Health Informatics, vol. 28, no. 4, pp. 1836–1847, Apr. 2024, </a:t>
            </a:r>
            <a:r>
              <a:rPr lang="en-IN" dirty="0" err="1"/>
              <a:t>doi</a:t>
            </a:r>
            <a:r>
              <a:rPr lang="en-IN" dirty="0"/>
              <a:t>: 10.1109/JBHI.2023.3308064.</a:t>
            </a:r>
          </a:p>
          <a:p>
            <a:r>
              <a:rPr lang="en-IN" dirty="0"/>
              <a:t>    • IEEE Xplore: </a:t>
            </a:r>
            <a:r>
              <a:rPr lang="en-IN" dirty="0">
                <a:hlinkClick r:id="rId5"/>
              </a:rPr>
              <a:t>https://ieeexplore.ieee.org/document/10227516</a:t>
            </a:r>
            <a:endParaRPr lang="en-IN" dirty="0"/>
          </a:p>
          <a:p>
            <a:r>
              <a:rPr lang="en-IN" dirty="0"/>
              <a:t>    • Covers: AI-driven clinical text summarization and structured medical knowledge extraction (UMLS).</a:t>
            </a:r>
          </a:p>
          <a:p>
            <a:endParaRPr lang="en-IN" dirty="0"/>
          </a:p>
          <a:p>
            <a:r>
              <a:rPr lang="en-IN" dirty="0"/>
              <a:t>[2] E. Adel et al., "Semantic Architecture for Interoperability in Distributed Healthcare Systems," IEEE Access, vol. 10, pp. 126161–126179, Nov. 2022, </a:t>
            </a:r>
            <a:r>
              <a:rPr lang="en-IN" dirty="0" err="1"/>
              <a:t>doi</a:t>
            </a:r>
            <a:r>
              <a:rPr lang="en-IN" dirty="0"/>
              <a:t>: 10.1109/ACCESS.2022.3223023.</a:t>
            </a:r>
          </a:p>
          <a:p>
            <a:r>
              <a:rPr lang="en-IN" dirty="0"/>
              <a:t>    • IEEE Xplore: </a:t>
            </a:r>
            <a:r>
              <a:rPr lang="en-IN" dirty="0">
                <a:hlinkClick r:id="rId6"/>
              </a:rPr>
              <a:t>https://ieeexplore.ieee.org/document/9956805</a:t>
            </a:r>
            <a:endParaRPr lang="en-IN" dirty="0"/>
          </a:p>
          <a:p>
            <a:r>
              <a:rPr lang="en-IN" dirty="0"/>
              <a:t>    • Covers: Data pipeline structuring, multi-format EHR integration, and standard medical records storage.</a:t>
            </a:r>
          </a:p>
          <a:p>
            <a:endParaRPr lang="en-IN" dirty="0"/>
          </a:p>
          <a:p>
            <a:r>
              <a:rPr lang="en-IN" dirty="0"/>
              <a:t>[3] K. Singhal </a:t>
            </a:r>
            <a:r>
              <a:rPr lang="en-IN" i="1" dirty="0"/>
              <a:t>et al.</a:t>
            </a:r>
            <a:r>
              <a:rPr lang="en-IN" dirty="0"/>
              <a:t>, "Large language models encode clinical knowledge," </a:t>
            </a:r>
            <a:r>
              <a:rPr lang="en-IN" i="1" dirty="0"/>
              <a:t>Nature</a:t>
            </a:r>
            <a:r>
              <a:rPr lang="en-IN" dirty="0"/>
              <a:t>, vol. 620, no. 7972, pp. 172–180, Aug. 2023.</a:t>
            </a:r>
          </a:p>
          <a:p>
            <a:r>
              <a:rPr lang="en-IN" dirty="0"/>
              <a:t>DOI: </a:t>
            </a:r>
            <a:r>
              <a:rPr lang="en-IN" dirty="0">
                <a:hlinkClick r:id="rId7"/>
              </a:rPr>
              <a:t>https://doi.org/10.1038/s41586-023-06291-2</a:t>
            </a:r>
            <a:endParaRPr lang="en-IN" dirty="0"/>
          </a:p>
          <a:p>
            <a:r>
              <a:rPr lang="en-IN" dirty="0"/>
              <a:t>PubMed Central: </a:t>
            </a:r>
            <a:r>
              <a:rPr lang="en-IN" dirty="0">
                <a:hlinkClick r:id="rId8"/>
              </a:rPr>
              <a:t>https://www.ncbi.nlm.nih.gov/pmc/articles/PMC10415177/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7810</TotalTime>
  <Words>653</Words>
  <Application>Microsoft Office PowerPoint</Application>
  <PresentationFormat>Widescreen</PresentationFormat>
  <Paragraphs>121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ＭＳ Ｐゴシック</vt:lpstr>
      <vt:lpstr>Arial</vt:lpstr>
      <vt:lpstr>Calibri</vt:lpstr>
      <vt:lpstr>Garamond</vt:lpstr>
      <vt:lpstr>Inter</vt:lpstr>
      <vt:lpstr>Plus Jakarta Sans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Gayatri Katole</cp:lastModifiedBy>
  <cp:revision>154</cp:revision>
  <dcterms:created xsi:type="dcterms:W3CDTF">2013-12-12T18:46:50Z</dcterms:created>
  <dcterms:modified xsi:type="dcterms:W3CDTF">2026-09-11T09:56:53Z</dcterms:modified>
  <cp:category/>
</cp:coreProperties>
</file>